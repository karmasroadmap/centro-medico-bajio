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C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Medical Information System</a:t>
            </a:r>
          </a:p>
          <a:p>
            <a:pPr algn="ctr">
              <a:defRPr sz="3200">
                <a:solidFill>
                  <a:srgbClr val="E7A33E"/>
                </a:solidFill>
              </a:defRPr>
            </a:pPr>
            <a:r>
              <a:t>Centralized Cloud Migration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CCCCCC"/>
                </a:solidFill>
              </a:defRPr>
            </a:pPr>
            <a:r>
              <a:t>Centro Médico del Bajío — IT Project Management Unit II</a:t>
            </a:r>
          </a:p>
          <a:p>
            <a:pPr algn="ctr">
              <a:spcBef>
                <a:spcPts val="800"/>
              </a:spcBef>
              <a:defRPr sz="1400">
                <a:solidFill>
                  <a:srgbClr val="666666"/>
                </a:solidFill>
              </a:defRPr>
            </a:pPr>
            <a:r>
              <a:t>José Manuel Ortiz Medrano · José Luis Sánchez · Carlos Orozco · Marco Polo Muñoz</a:t>
            </a:r>
          </a:p>
          <a:p>
            <a:pPr algn="ctr">
              <a:defRPr sz="1400">
                <a:solidFill>
                  <a:srgbClr val="666666"/>
                </a:solidFill>
              </a:defRPr>
            </a:pPr>
            <a:r>
              <a:t>June 1 – July 31, 2026 | $147,900 MXN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F3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222222"/>
                </a:solidFill>
              </a:defRPr>
            </a:pPr>
            <a:r>
              <a:t>▸  3 hospital branches: Aguascalientes, León, Morelia</a:t>
            </a:r>
          </a:p>
          <a:p>
            <a:pPr>
              <a:spcAft>
                <a:spcPts val="1400"/>
              </a:spcAft>
              <a:defRPr sz="2000">
                <a:solidFill>
                  <a:srgbClr val="222222"/>
                </a:solidFill>
              </a:defRPr>
            </a:pPr>
            <a:r>
              <a:t>▸  53,208 duplicated clinical records → target 0% redundancy</a:t>
            </a:r>
          </a:p>
          <a:p>
            <a:pPr>
              <a:spcAft>
                <a:spcPts val="1400"/>
              </a:spcAft>
              <a:defRPr sz="2000">
                <a:solidFill>
                  <a:srgbClr val="222222"/>
                </a:solidFill>
              </a:defRPr>
            </a:pPr>
            <a:r>
              <a:t>▸  Decentralized local servers → centralized cloud platform</a:t>
            </a:r>
          </a:p>
          <a:p>
            <a:pPr>
              <a:spcAft>
                <a:spcPts val="1400"/>
              </a:spcAft>
              <a:defRPr sz="2000">
                <a:solidFill>
                  <a:srgbClr val="222222"/>
                </a:solidFill>
              </a:defRPr>
            </a:pPr>
            <a:r>
              <a:t>▸  4 VMs, 32 GB RAM, sub-2-second query response</a:t>
            </a:r>
          </a:p>
          <a:p>
            <a:pPr>
              <a:spcAft>
                <a:spcPts val="1400"/>
              </a:spcAft>
              <a:defRPr sz="2000">
                <a:solidFill>
                  <a:srgbClr val="222222"/>
                </a:solidFill>
              </a:defRPr>
            </a:pPr>
            <a:r>
              <a:t>▸  8-week timeline (Jun 1 – Jul 31, 2026), 40 business days</a:t>
            </a:r>
          </a:p>
          <a:p>
            <a:pPr>
              <a:spcAft>
                <a:spcPts val="1400"/>
              </a:spcAft>
              <a:defRPr sz="2000">
                <a:solidFill>
                  <a:srgbClr val="222222"/>
                </a:solidFill>
              </a:defRPr>
            </a:pPr>
            <a:r>
              <a:t>▸  Budget: $147,900 MXN | Sponsor: Dr. Alejandro Vance de la Vega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F3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Project Charter — Key Elements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B85042"/>
                </a:solidFill>
              </a:defRPr>
            </a:pPr>
            <a:r>
              <a:t>Objective</a:t>
            </a:r>
          </a:p>
          <a:p>
            <a:pPr>
              <a:spcAft>
                <a:spcPts val="800"/>
              </a:spcAft>
              <a:defRPr sz="1300">
                <a:solidFill>
                  <a:srgbClr val="222222"/>
                </a:solidFill>
              </a:defRPr>
            </a:pPr>
            <a:r>
              <a:t>Centralize medical data on cloud, eliminate 53K duplicates, sub-2s queries, by Jul 31 within $147,900 MXN.</a:t>
            </a:r>
          </a:p>
          <a:p/>
          <a:p>
            <a:pPr>
              <a:defRPr sz="1600" b="1">
                <a:solidFill>
                  <a:srgbClr val="B85042"/>
                </a:solidFill>
              </a:defRPr>
            </a:pPr>
            <a:r>
              <a:t>Scope</a:t>
            </a:r>
          </a:p>
          <a:p>
            <a:pPr>
              <a:spcAft>
                <a:spcPts val="800"/>
              </a:spcAft>
              <a:defRPr sz="1300">
                <a:solidFill>
                  <a:srgbClr val="222222"/>
                </a:solidFill>
              </a:defRPr>
            </a:pPr>
            <a:r>
              <a:t>Cloud DB (4 VMs), deduplication scripts, full migration of annual records, equipment across 3 branches.</a:t>
            </a:r>
          </a:p>
          <a:p/>
          <a:p>
            <a:pPr>
              <a:defRPr sz="1600" b="1">
                <a:solidFill>
                  <a:srgbClr val="B85042"/>
                </a:solidFill>
              </a:defRPr>
            </a:pPr>
            <a:r>
              <a:t>Risks</a:t>
            </a:r>
          </a:p>
          <a:p>
            <a:pPr>
              <a:spcAft>
                <a:spcPts val="800"/>
              </a:spcAft>
              <a:defRPr sz="1300">
                <a:solidFill>
                  <a:srgbClr val="222222"/>
                </a:solidFill>
              </a:defRPr>
            </a:pPr>
            <a:r>
              <a:t>Data loss, vendor delays, user resistance, connectivity failure, cybersecurity incident.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28090"/>
                </a:solidFill>
              </a:defRPr>
            </a:pPr>
            <a:r>
              <a:t>Major Milestones</a:t>
            </a:r>
          </a:p>
          <a:p>
            <a:pPr>
              <a:spcAft>
                <a:spcPts val="600"/>
              </a:spcAft>
              <a:defRPr sz="1300">
                <a:solidFill>
                  <a:srgbClr val="222222"/>
                </a:solidFill>
              </a:defRPr>
            </a:pPr>
            <a:r>
              <a:t>▸  M1 — Cloud requirements defined (Jun 3)</a:t>
            </a:r>
          </a:p>
          <a:p>
            <a:pPr>
              <a:spcAft>
                <a:spcPts val="600"/>
              </a:spcAft>
              <a:defRPr sz="1300">
                <a:solidFill>
                  <a:srgbClr val="222222"/>
                </a:solidFill>
              </a:defRPr>
            </a:pPr>
            <a:r>
              <a:t>▸  M2 — Architecture designed &amp; provider selected (Jun 22)</a:t>
            </a:r>
          </a:p>
          <a:p>
            <a:pPr>
              <a:spcAft>
                <a:spcPts val="600"/>
              </a:spcAft>
              <a:defRPr sz="1300">
                <a:solidFill>
                  <a:srgbClr val="222222"/>
                </a:solidFill>
              </a:defRPr>
            </a:pPr>
            <a:r>
              <a:t>▸  M3 — Equipment installed in 3 branches (Jun 25)</a:t>
            </a:r>
          </a:p>
          <a:p>
            <a:pPr>
              <a:spcAft>
                <a:spcPts val="600"/>
              </a:spcAft>
              <a:defRPr sz="1300">
                <a:solidFill>
                  <a:srgbClr val="222222"/>
                </a:solidFill>
              </a:defRPr>
            </a:pPr>
            <a:r>
              <a:t>▸  M4 — Digitization completed (Jul 9)</a:t>
            </a:r>
          </a:p>
          <a:p>
            <a:pPr>
              <a:spcAft>
                <a:spcPts val="600"/>
              </a:spcAft>
              <a:defRPr sz="1300">
                <a:solidFill>
                  <a:srgbClr val="222222"/>
                </a:solidFill>
              </a:defRPr>
            </a:pPr>
            <a:r>
              <a:t>▸  M5 — Migration &amp; deduplication done (Jul 18)</a:t>
            </a:r>
          </a:p>
          <a:p>
            <a:pPr>
              <a:spcAft>
                <a:spcPts val="600"/>
              </a:spcAft>
              <a:defRPr sz="1300">
                <a:solidFill>
                  <a:srgbClr val="222222"/>
                </a:solidFill>
              </a:defRPr>
            </a:pPr>
            <a:r>
              <a:t>▸  M6 — System validated &amp; Go-Live (Jul 31)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F3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Project Schedule — Gantt Chart</a:t>
            </a:r>
          </a:p>
        </p:txBody>
      </p:sp>
      <p:pic>
        <p:nvPicPr>
          <p:cNvPr id="3" name="Picture 2" descr="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F3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Week-4 Review — Events &amp; Change Requests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B85042"/>
                </a:solidFill>
              </a:defRPr>
            </a:pPr>
            <a:r>
              <a:t>5 Reported Events</a:t>
            </a:r>
          </a:p>
          <a:p>
            <a:pPr>
              <a:spcAft>
                <a:spcPts val="500"/>
              </a:spcAft>
              <a:defRPr sz="1200">
                <a:solidFill>
                  <a:srgbClr val="222222"/>
                </a:solidFill>
              </a:defRPr>
            </a:pPr>
            <a:r>
              <a:t>▸  1. Staff sick leave → C1 +2 days delay</a:t>
            </a:r>
          </a:p>
          <a:p>
            <a:pPr>
              <a:spcAft>
                <a:spcPts val="500"/>
              </a:spcAft>
              <a:defRPr sz="1200">
                <a:solidFill>
                  <a:srgbClr val="222222"/>
                </a:solidFill>
              </a:defRPr>
            </a:pPr>
            <a:r>
              <a:t>▸  2. 3 deliverables pending at review</a:t>
            </a:r>
          </a:p>
          <a:p>
            <a:pPr>
              <a:spcAft>
                <a:spcPts val="500"/>
              </a:spcAft>
              <a:defRPr sz="1200">
                <a:solidFill>
                  <a:srgbClr val="222222"/>
                </a:solidFill>
              </a:defRPr>
            </a:pPr>
            <a:r>
              <a:t>▸  3. Mgmt request: go-live 1 week earlier</a:t>
            </a:r>
          </a:p>
          <a:p>
            <a:pPr>
              <a:spcAft>
                <a:spcPts val="500"/>
              </a:spcAft>
              <a:defRPr sz="1200">
                <a:solidFill>
                  <a:srgbClr val="222222"/>
                </a:solidFill>
              </a:defRPr>
            </a:pPr>
            <a:r>
              <a:t>▸  4. C6 (longest activity) needs +3 days</a:t>
            </a:r>
          </a:p>
          <a:p>
            <a:pPr>
              <a:spcAft>
                <a:spcPts val="500"/>
              </a:spcAft>
              <a:defRPr sz="1200">
                <a:solidFill>
                  <a:srgbClr val="222222"/>
                </a:solidFill>
              </a:defRPr>
            </a:pPr>
            <a:r>
              <a:t>▸  5. Equipment costs +4% (inflation)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93192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CR</a:t>
                      </a:r>
                    </a:p>
                  </a:txBody>
                  <a:tcPr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B8504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CR-01</a:t>
                      </a:r>
                    </a:p>
                  </a:txBody>
                  <a:tcPr>
                    <a:solidFill>
                      <a:srgbClr val="FBF2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Extend C6: 5→8 days</a:t>
                      </a:r>
                    </a:p>
                  </a:txBody>
                  <a:tcPr>
                    <a:solidFill>
                      <a:srgbClr val="FBF2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Schedule</a:t>
                      </a:r>
                    </a:p>
                  </a:txBody>
                  <a:tcPr>
                    <a:solidFill>
                      <a:srgbClr val="FBF2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+3 days</a:t>
                      </a:r>
                    </a:p>
                  </a:txBody>
                  <a:tcPr>
                    <a:solidFill>
                      <a:srgbClr val="FBF2F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CR-02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Go-live 1 week earlier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−5 days target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CR-03</a:t>
                      </a:r>
                    </a:p>
                  </a:txBody>
                  <a:tcPr>
                    <a:solidFill>
                      <a:srgbClr val="FBF2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+4% equipment inflation</a:t>
                      </a:r>
                    </a:p>
                  </a:txBody>
                  <a:tcPr>
                    <a:solidFill>
                      <a:srgbClr val="FBF2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Cost</a:t>
                      </a:r>
                    </a:p>
                  </a:txBody>
                  <a:tcPr>
                    <a:solidFill>
                      <a:srgbClr val="FBF2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+$2,680</a:t>
                      </a:r>
                    </a:p>
                  </a:txBody>
                  <a:tcPr>
                    <a:solidFill>
                      <a:srgbClr val="FBF2F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CR-04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2nd digitization crew (crash C6/C7)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Resource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Recover delay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F3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Earned Value Analysis — Week 4 (Jun 26)</a:t>
            </a:r>
          </a:p>
        </p:txBody>
      </p:sp>
      <p:pic>
        <p:nvPicPr>
          <p:cNvPr id="3" name="Picture 2" descr="e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02336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▸  PV (Planned): $100,000  |  EV (Earned): $93,000  |  AC (Actual): $97,200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▸  SV = −$7,000 (behind schedule)  |  CV = −$4,200 (over budget)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▸  SPI = 0.93  (&lt; 1 → behind)  |  CPI = 0.957  (&lt; 1 → over budget)</a:t>
            </a:r>
          </a:p>
          <a:p>
            <a:pPr>
              <a:spcAft>
                <a:spcPts val="800"/>
              </a:spcAft>
              <a:defRPr sz="1500">
                <a:solidFill>
                  <a:srgbClr val="B85042"/>
                </a:solidFill>
              </a:defRPr>
            </a:pPr>
            <a:r>
              <a:t>▸  EAC = BAC / CPI = $154,545  (forecast at completion)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F3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Cloud Provider Selection — Weighted Criteria (Activity C4)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371600"/>
          <a:ext cx="94183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664"/>
                <a:gridCol w="1883664"/>
                <a:gridCol w="1883664"/>
                <a:gridCol w="1883664"/>
                <a:gridCol w="1883664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Criterion</a:t>
                      </a:r>
                    </a:p>
                  </a:txBody>
                  <a:tcPr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Weight</a:t>
                      </a:r>
                    </a:p>
                  </a:txBody>
                  <a:tcPr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Provider 1</a:t>
                      </a:r>
                    </a:p>
                  </a:txBody>
                  <a:tcPr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Provider 2</a:t>
                      </a:r>
                    </a:p>
                  </a:txBody>
                  <a:tcPr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Provider 3</a:t>
                      </a:r>
                    </a:p>
                  </a:txBody>
                  <a:tcPr>
                    <a:solidFill>
                      <a:srgbClr val="2F3C7E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Cost</a:t>
                      </a:r>
                    </a:p>
                  </a:txBody>
                  <a:tcPr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5F6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Delivery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Quality</a:t>
                      </a:r>
                    </a:p>
                  </a:txBody>
                  <a:tcPr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5F6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Post-Service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222222"/>
                          </a:solidFill>
                        </a:defRPr>
                      </a:pPr>
                      <a:r>
                        <a:t>Weighted Total</a:t>
                      </a:r>
                    </a:p>
                  </a:txBody>
                  <a:tcPr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222222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222222"/>
                          </a:solidFill>
                        </a:defRPr>
                      </a:pPr>
                      <a:r>
                        <a:t>7.8 ★</a:t>
                      </a:r>
                    </a:p>
                  </a:txBody>
                  <a:tcPr>
                    <a:solidFill>
                      <a:srgbClr val="C7E8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222222"/>
                          </a:solidFill>
                        </a:defRPr>
                      </a:pPr>
                      <a:r>
                        <a:t>6.9</a:t>
                      </a:r>
                    </a:p>
                  </a:txBody>
                  <a:tcPr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222222"/>
                          </a:solidFill>
                        </a:defRPr>
                      </a:pPr>
                      <a:r>
                        <a:t>6.3</a:t>
                      </a:r>
                    </a:p>
                  </a:txBody>
                  <a:tcPr>
                    <a:solidFill>
                      <a:srgbClr val="F0F2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371600" y="566928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2E8B57"/>
                </a:solidFill>
              </a:defRPr>
            </a:pPr>
            <a:r>
              <a:t>✓ Provider 1 selected — highest score (7.8/10): best cost and post-service support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F3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Project Closure — Results &amp; Lessons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E8B57"/>
                </a:solidFill>
              </a:defRPr>
            </a:pPr>
            <a:r>
              <a:t>✓  Hits (What Went Right)</a:t>
            </a:r>
          </a:p>
          <a:p>
            <a:pPr>
              <a:spcAft>
                <a:spcPts val="400"/>
              </a:spcAft>
              <a:defRPr sz="1200">
                <a:solidFill>
                  <a:srgbClr val="222222"/>
                </a:solidFill>
              </a:defRPr>
            </a:pPr>
            <a:r>
              <a:t>▸  Centralized cloud infrastructure deployed (4 VMs, 32 GB RAM)</a:t>
            </a:r>
          </a:p>
          <a:p>
            <a:pPr>
              <a:spcAft>
                <a:spcPts val="400"/>
              </a:spcAft>
              <a:defRPr sz="1200">
                <a:solidFill>
                  <a:srgbClr val="222222"/>
                </a:solidFill>
              </a:defRPr>
            </a:pPr>
            <a:r>
              <a:t>▸  100% elimination of 53,208 duplicate records</a:t>
            </a:r>
          </a:p>
          <a:p>
            <a:pPr>
              <a:spcAft>
                <a:spcPts val="400"/>
              </a:spcAft>
              <a:defRPr sz="1200">
                <a:solidFill>
                  <a:srgbClr val="222222"/>
                </a:solidFill>
              </a:defRPr>
            </a:pPr>
            <a:r>
              <a:t>▸  Sub-2-second query response across all branches</a:t>
            </a:r>
          </a:p>
          <a:p>
            <a:pPr>
              <a:spcAft>
                <a:spcPts val="400"/>
              </a:spcAft>
              <a:defRPr sz="1200">
                <a:solidFill>
                  <a:srgbClr val="222222"/>
                </a:solidFill>
              </a:defRPr>
            </a:pPr>
            <a:r>
              <a:t>▸  Objective provider selection via weighted criteria (7.8/10)</a:t>
            </a:r>
          </a:p>
          <a:p>
            <a:pPr>
              <a:spcAft>
                <a:spcPts val="400"/>
              </a:spcAft>
              <a:defRPr sz="1200">
                <a:solidFill>
                  <a:srgbClr val="222222"/>
                </a:solidFill>
              </a:defRPr>
            </a:pPr>
            <a:r>
              <a:t>▸  Change control kept July 31 go-live on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18872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B85042"/>
                </a:solidFill>
              </a:defRPr>
            </a:pPr>
            <a:r>
              <a:t>✗  Failures (What Went Wrong)</a:t>
            </a:r>
          </a:p>
          <a:p>
            <a:pPr>
              <a:spcAft>
                <a:spcPts val="400"/>
              </a:spcAft>
              <a:defRPr sz="1200">
                <a:solidFill>
                  <a:srgbClr val="222222"/>
                </a:solidFill>
              </a:defRPr>
            </a:pPr>
            <a:r>
              <a:t>▸  C1 delayed 2 days — no backup owner assigned</a:t>
            </a:r>
          </a:p>
          <a:p>
            <a:pPr>
              <a:spcAft>
                <a:spcPts val="400"/>
              </a:spcAft>
              <a:defRPr sz="1200">
                <a:solidFill>
                  <a:srgbClr val="222222"/>
                </a:solidFill>
              </a:defRPr>
            </a:pPr>
            <a:r>
              <a:t>▸  3 procurement deliverables pending at Week 4</a:t>
            </a:r>
          </a:p>
          <a:p>
            <a:pPr>
              <a:spcAft>
                <a:spcPts val="400"/>
              </a:spcAft>
              <a:defRPr sz="1200">
                <a:solidFill>
                  <a:srgbClr val="222222"/>
                </a:solidFill>
              </a:defRPr>
            </a:pPr>
            <a:r>
              <a:t>▸  C6 underestimated: record volume needed +3 days</a:t>
            </a:r>
          </a:p>
          <a:p>
            <a:pPr>
              <a:spcAft>
                <a:spcPts val="400"/>
              </a:spcAft>
              <a:defRPr sz="1200">
                <a:solidFill>
                  <a:srgbClr val="222222"/>
                </a:solidFill>
              </a:defRPr>
            </a:pPr>
            <a:r>
              <a:t>▸  EVA formulas initially swapped (SV/CV corrected)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28090"/>
                </a:solidFill>
              </a:defRPr>
            </a:pPr>
            <a:r>
              <a:t>→  Improvements for Future Projects</a:t>
            </a:r>
          </a:p>
          <a:p>
            <a:pPr>
              <a:spcAft>
                <a:spcPts val="400"/>
              </a:spcAft>
              <a:defRPr sz="1300">
                <a:solidFill>
                  <a:srgbClr val="222222"/>
                </a:solidFill>
              </a:defRPr>
            </a:pPr>
            <a:r>
              <a:t>▸  Assign backup owners for every critical-path activity</a:t>
            </a:r>
          </a:p>
          <a:p>
            <a:pPr>
              <a:spcAft>
                <a:spcPts val="400"/>
              </a:spcAft>
              <a:defRPr sz="1300">
                <a:solidFill>
                  <a:srgbClr val="222222"/>
                </a:solidFill>
              </a:defRPr>
            </a:pPr>
            <a:r>
              <a:t>▸  Use per-record parametric estimation instead of flat durations for digitization</a:t>
            </a:r>
          </a:p>
          <a:p>
            <a:pPr>
              <a:spcAft>
                <a:spcPts val="400"/>
              </a:spcAft>
              <a:defRPr sz="1300">
                <a:solidFill>
                  <a:srgbClr val="222222"/>
                </a:solidFill>
              </a:defRPr>
            </a:pPr>
            <a:r>
              <a:t>▸  Pre-qualify vendors and lock SLAs during Week 1</a:t>
            </a:r>
          </a:p>
          <a:p>
            <a:pPr>
              <a:spcAft>
                <a:spcPts val="400"/>
              </a:spcAft>
              <a:defRPr sz="1300">
                <a:solidFill>
                  <a:srgbClr val="222222"/>
                </a:solidFill>
              </a:defRPr>
            </a:pPr>
            <a:r>
              <a:t>▸  Standardize EVA templates to prevent formula confusion</a:t>
            </a:r>
          </a:p>
          <a:p>
            <a:pPr>
              <a:spcAft>
                <a:spcPts val="400"/>
              </a:spcAft>
              <a:defRPr sz="1300">
                <a:solidFill>
                  <a:srgbClr val="222222"/>
                </a:solidFill>
              </a:defRPr>
            </a:pPr>
            <a:r>
              <a:t>▸  Keep daily stand-up alignment meetings (introduced during rework)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C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Conclusion</a:t>
            </a:r>
          </a:p>
          <a:p>
            <a:pPr algn="ctr">
              <a:spcBef>
                <a:spcPts val="1600"/>
              </a:spcBef>
              <a:defRPr sz="1800">
                <a:solidFill>
                  <a:srgbClr val="CCCCCC"/>
                </a:solidFill>
              </a:defRPr>
            </a:pPr>
            <a:r>
              <a:t>The project achieved its strategic objective: 3 branches consolidated on a single cloud platform</a:t>
            </a:r>
          </a:p>
          <a:p>
            <a:pPr algn="ctr">
              <a:spcBef>
                <a:spcPts val="1600"/>
              </a:spcBef>
              <a:defRPr sz="1800">
                <a:solidFill>
                  <a:srgbClr val="CCCCCC"/>
                </a:solidFill>
              </a:defRPr>
            </a:pPr>
            <a:r>
              <a:t>53,208 duplicate records eliminated → 0% redundancy</a:t>
            </a:r>
          </a:p>
          <a:p>
            <a:pPr algn="ctr">
              <a:spcBef>
                <a:spcPts val="1600"/>
              </a:spcBef>
              <a:defRPr sz="1800">
                <a:solidFill>
                  <a:srgbClr val="CCCCCC"/>
                </a:solidFill>
              </a:defRPr>
            </a:pPr>
            <a:r>
              <a:t>EVA at Week 4: SPI 0.93, CPI 0.957 — corrective action via crashing + contingency reserve</a:t>
            </a:r>
          </a:p>
          <a:p>
            <a:pPr algn="ctr">
              <a:spcBef>
                <a:spcPts val="1600"/>
              </a:spcBef>
              <a:defRPr sz="1800">
                <a:solidFill>
                  <a:srgbClr val="CCCCCC"/>
                </a:solidFill>
              </a:defRPr>
            </a:pPr>
            <a:r>
              <a:t>Delivered on time (July 31, 2026) and within adjusted budget</a:t>
            </a:r>
          </a:p>
          <a:p>
            <a:pPr algn="ctr">
              <a:spcBef>
                <a:spcPts val="1600"/>
              </a:spcBef>
              <a:defRPr sz="1800">
                <a:solidFill>
                  <a:srgbClr val="CCCCCC"/>
                </a:solidFill>
              </a:defRPr>
            </a:pPr>
            <a:r>
              <a:t>Structured change control absorbed 5 disruption events without derailing the critical path</a:t>
            </a:r>
          </a:p>
          <a:p>
            <a:pPr>
              <a:spcBef>
                <a:spcPts val="3000"/>
              </a:spcBef>
            </a:pPr>
          </a:p>
          <a:p>
            <a:pPr algn="ctr">
              <a:defRPr sz="2400" b="1">
                <a:solidFill>
                  <a:srgbClr val="E7A33E"/>
                </a:solidFill>
              </a:defRPr>
            </a:pPr>
            <a: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