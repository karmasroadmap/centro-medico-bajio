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Medical Information System</a:t>
            </a:r>
          </a:p>
          <a:p>
            <a:pPr algn="ctr">
              <a:defRPr sz="3200">
                <a:solidFill>
                  <a:srgbClr val="E7A33E"/>
                </a:solidFill>
              </a:defRPr>
            </a:pPr>
            <a:r>
              <a:t>Centralized Cloud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Centro Médico del Bajío — IT Project Management Unit II</a:t>
            </a:r>
          </a:p>
          <a:p>
            <a:pPr algn="ctr">
              <a:spcBef>
                <a:spcPts val="800"/>
              </a:spcBef>
              <a:defRPr sz="1400">
                <a:solidFill>
                  <a:srgbClr val="666666"/>
                </a:solidFill>
              </a:defRPr>
            </a:pPr>
            <a:r>
              <a:t>José Manuel Ortiz Medrano (UP230598) · José Luis Sánchez Vázquez (UP230269) · Carlos Arturo Orozco Huitron (UP230562) · Marco Polo Muñoz Nájera (UP230328)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June 1 – July 31, 2026 | $147,900 MXN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3 hospital branches: Aguascalientes, León, Morelia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53,208 duplicated clinical records → target 0% redundancy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Decentralized local servers → centralized cloud platform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4 VMs, 32 GB RAM, sub-2-second query response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8-week timeline (Jun 1 – Jul 31, 2026), 40 business days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▸  Budget: $147,900 MXN | Sponsor: Dr. Alejandro Vance de la Vega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Charter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5042"/>
                </a:solidFill>
              </a:defRPr>
            </a:pPr>
            <a:r>
              <a:t>Objective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Centralize medical data on cloud, eliminate 53K duplicates, sub-2s queries, by Jul 31 within $147,900 MXN.</a:t>
            </a:r>
          </a:p>
          <a:p/>
          <a:p>
            <a:pPr>
              <a:defRPr sz="1600" b="1">
                <a:solidFill>
                  <a:srgbClr val="B85042"/>
                </a:solidFill>
              </a:defRPr>
            </a:pPr>
            <a:r>
              <a:t>Scope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Cloud DB (4 VMs), deduplication scripts, full migration of annual records, equipment across 3 branches.</a:t>
            </a:r>
          </a:p>
          <a:p/>
          <a:p>
            <a:pPr>
              <a:defRPr sz="1600" b="1">
                <a:solidFill>
                  <a:srgbClr val="B85042"/>
                </a:solidFill>
              </a:defRPr>
            </a:pPr>
            <a:r>
              <a:t>Risks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Data loss, vendor delays, user resistance, connectivity failure, cybersecurity incident.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Major Milestones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M1 — Cloud requirements defined (Jun 3)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M2 — Architecture designed &amp; provider selected (Jun 22)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M3 — Equipment installed in 3 branches (Jun 25)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M4 — Digitization completed (Jul 9)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M5 — Migration &amp; deduplication done (Jul 18)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▸  M6 — System validated &amp; Go-Live (Jul 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Schedule — Gantt Chart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Week-4 Review — Events &amp; Change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5042"/>
                </a:solidFill>
              </a:defRPr>
            </a:pPr>
            <a:r>
              <a:t>5 Reported Events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▸  1. Staff sick leave → C1 +2 days delay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▸  2. 3 deliverables pending at review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▸  3. Mgmt request: go-live 1 week earlier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▸  4. C6 (longest activity) needs +3 days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▸  5. Equipment costs +4% (inflation)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9319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CR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CR-01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Extend C6: 5→8 days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+3 days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Go-live 1 week earlier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−5 days target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CR-03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+4% equipment inflation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+$2,680</a:t>
                      </a:r>
                    </a:p>
                  </a:txBody>
                  <a:tcPr>
                    <a:solidFill>
                      <a:srgbClr val="FB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2nd digitization crew (crash C6/C7)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Recover delay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Earned Value Analysis — Week 4 (Jun 26)</a:t>
            </a:r>
          </a:p>
        </p:txBody>
      </p:sp>
      <p:pic>
        <p:nvPicPr>
          <p:cNvPr id="3" name="Picture 2" descr="e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0233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▸  PV (Planned): $100,000  |  EV (Earned): $93,000  |  AC (Actual): $97,200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▸  SV = −$7,000 (behind schedule)  |  CV = −$4,200 (over budget)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▸  SPI = 0.93  (&lt; 1 → behind)  |  CPI = 0.957  (&lt; 1 → over budget)</a:t>
            </a:r>
          </a:p>
          <a:p>
            <a:pPr>
              <a:spcAft>
                <a:spcPts val="800"/>
              </a:spcAft>
              <a:defRPr sz="1500">
                <a:solidFill>
                  <a:srgbClr val="B85042"/>
                </a:solidFill>
              </a:defRPr>
            </a:pPr>
            <a:r>
              <a:t>▸  EAC = BAC / CPI = $154,545  (forecast at completion)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EVM — S-Curve: Cumulative Cost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PV vs EV vs AC over the 8-week project timeline</a:t>
            </a:r>
          </a:p>
        </p:txBody>
      </p:sp>
      <p:pic>
        <p:nvPicPr>
          <p:cNvPr id="4" name="Picture 3" descr="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Cost by Activity: Budget vs Actual at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C4 dominates the budget (55K) — equipment + cloud provider</a:t>
            </a:r>
          </a:p>
        </p:txBody>
      </p:sp>
      <p:pic>
        <p:nvPicPr>
          <p:cNvPr id="4" name="Picture 3" descr="cost_by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Cloud Provider Selection — Weighted Criteria (Activity C4)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Provider 1</a:t>
                      </a:r>
                    </a:p>
                  </a:txBody>
                  <a:tcPr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Provider 2</a:t>
                      </a:r>
                    </a:p>
                  </a:txBody>
                  <a:tcPr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Provider 3</a:t>
                      </a:r>
                    </a:p>
                  </a:txBody>
                  <a:tcPr>
                    <a:solidFill>
                      <a:srgbClr val="2F3C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Delivery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Post-Service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22222"/>
                          </a:solidFill>
                        </a:defRPr>
                      </a:pPr>
                      <a:r>
                        <a:t>Weighted Total</a:t>
                      </a:r>
                    </a:p>
                  </a:txBody>
                  <a:tcPr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2222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22222"/>
                          </a:solidFill>
                        </a:defRPr>
                      </a:pPr>
                      <a:r>
                        <a:t>7.8 ★</a:t>
                      </a:r>
                    </a:p>
                  </a:txBody>
                  <a:tcPr>
                    <a:solidFill>
                      <a:srgbClr val="C7E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22222"/>
                          </a:solidFill>
                        </a:defRPr>
                      </a:pPr>
                      <a:r>
                        <a:t>6.9</a:t>
                      </a:r>
                    </a:p>
                  </a:txBody>
                  <a:tcPr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22222"/>
                          </a:solidFill>
                        </a:defRPr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E8B57"/>
                </a:solidFill>
              </a:defRPr>
            </a:pPr>
            <a:r>
              <a:t>✓ Provider 1 selected — highest score (7.8/10): best cost and post-service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Closure — Results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B57"/>
                </a:solidFill>
              </a:defRPr>
            </a:pPr>
            <a:r>
              <a:t>✓  Hits (What Went Right)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Centralized cloud infrastructure deployed (4 VMs, 32 GB RAM)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100% elimination of 53,208 duplicate records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Sub-2-second query response across all branches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Objective provider selection via weighted criteria (7.8/10)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Change control kept July 31 go-live 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5042"/>
                </a:solidFill>
              </a:defRPr>
            </a:pPr>
            <a:r>
              <a:t>✗  Failures (What Went Wrong)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C1 delayed 2 days — no backup owner assigned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3 procurement deliverables pending at Week 4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C6 underestimated: record volume needed +3 days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▸  EVA formulas initially swapped (SV/CV corrected)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→  Improvements for Future Projects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▸  Assign backup owners for every critical-path activity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▸  Use per-record parametric estimation instead of flat durations for digitization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▸  Pre-qualify vendors and lock SLAs during Week 1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▸  Standardize EVA templates to prevent formula confusion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▸  Keep daily stand-up alignment meetings (introduced during rework)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CCCCC"/>
                </a:solidFill>
              </a:defRPr>
            </a:pPr>
            <a:r>
              <a:t>The project achieved its strategic objective: 3 branches consolidated on a single cloud platform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CCCCC"/>
                </a:solidFill>
              </a:defRPr>
            </a:pPr>
            <a:r>
              <a:t>53,208 duplicate records eliminated → 0% redundancy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CCCCC"/>
                </a:solidFill>
              </a:defRPr>
            </a:pPr>
            <a:r>
              <a:t>EVA at Week 4: SPI 0.93, CPI 0.957 — corrective action via crashing + contingency reserve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CCCCC"/>
                </a:solidFill>
              </a:defRPr>
            </a:pPr>
            <a:r>
              <a:t>Delivered on time (July 31, 2026) and within adjusted budget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CCCCC"/>
                </a:solidFill>
              </a:defRPr>
            </a:pPr>
            <a:r>
              <a:t>Structured change control absorbed 5 disruption events without derailing the critical path</a:t>
            </a:r>
          </a:p>
          <a:p>
            <a:pPr>
              <a:spcBef>
                <a:spcPts val="3000"/>
              </a:spcBef>
            </a:pPr>
          </a:p>
          <a:p>
            <a:pPr algn="ctr">
              <a:defRPr sz="2400" b="1">
                <a:solidFill>
                  <a:srgbClr val="E7A33E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